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Northwind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Our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Defensibility.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Financials.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The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Use of Funds.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Northwind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Revenue intelligence for industrial distributors</a:t>
            </a:r>
          </a:p>
          <a:p>
            <a:r>
              <a:rPr sz="1600"/>
              <a:t>www.northwindanalytics.com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Industrial distributors lose 12% of gross margin to unmanaged pricing.</a:t>
            </a:r>
          </a:p>
          <a:p>
            <a:r>
              <a:rPr sz="1600"/>
              <a:t>The average distributor runs pricing in 14 disconnected spreadsheets.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A SaaS pricing platform that plugs into existing ERP systems.</a:t>
            </a:r>
          </a:p>
          <a:p>
            <a:r>
              <a:rPr sz="1600"/>
              <a:t>Deployed in 6 weeks, no data warehouse required.</a:t>
            </a:r>
          </a:p>
          <a:p>
            <a:r>
              <a:rPr sz="1600"/>
              <a:t>Business model: per-seat subscription software with annual contracts.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ARR: $2,400,000</a:t>
            </a:r>
          </a:p>
          <a:p>
            <a:r>
              <a:rPr sz="1600"/>
              <a:t>MRR: $200,000</a:t>
            </a:r>
          </a:p>
          <a:p>
            <a:r>
              <a:rPr sz="1600"/>
              <a:t>Revenue growth: 145% year-over-year</a:t>
            </a:r>
          </a:p>
          <a:p>
            <a:r>
              <a:rPr sz="1600"/>
              <a:t>42 paying customers, including 11 enterprise customers</a:t>
            </a:r>
          </a:p>
          <a:p>
            <a:r>
              <a:rPr sz="1600"/>
              <a:t>Net revenue retention: 118%</a:t>
            </a:r>
          </a:p>
          <a:p>
            <a:r>
              <a:rPr sz="1600"/>
              <a:t>Gross margin: 82%</a:t>
            </a:r>
          </a:p>
          <a:p>
            <a:r>
              <a:rPr sz="1600"/>
              <a:t>Average contract value: $57,000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TAM: $8.4 billion of industrial distribution software spend</a:t>
            </a:r>
          </a:p>
          <a:p>
            <a:r>
              <a:rPr sz="1600"/>
              <a:t>SAM: $1.9 billion in North America</a:t>
            </a:r>
          </a:p>
          <a:p>
            <a:r>
              <a:rPr sz="1600"/>
              <a:t>SOM: $190 million within five years</a:t>
            </a:r>
          </a:p>
          <a:p>
            <a:r>
              <a:rPr sz="1600"/>
              <a:t>Market growth: 14% CAGR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Dana Whitfield - Co-Founder &amp; CEO</a:t>
            </a:r>
          </a:p>
          <a:p>
            <a:r>
              <a:rPr sz="1600"/>
              <a:t>Serial entrepreneur; previously founded Lumen Pricing (acquired by SAP in 2019).</a:t>
            </a:r>
          </a:p>
          <a:p>
            <a:r>
              <a:rPr sz="1600"/>
              <a:t>Commitment: Full-Time</a:t>
            </a:r>
          </a:p>
          <a:p>
            <a:r>
              <a:rPr sz="1600"/>
              <a:t>Marcus Ilori - Co-Founder &amp; CTO</a:t>
            </a:r>
          </a:p>
          <a:p>
            <a:r>
              <a:rPr sz="1600"/>
              <a:t>15 years of pricing systems engineering.</a:t>
            </a:r>
          </a:p>
          <a:p>
            <a:r>
              <a:rPr sz="1600"/>
              <a:t>Priya Raman - Chief Revenue Officer</a:t>
            </a:r>
          </a:p>
          <a:p>
            <a:r>
              <a:rPr sz="1600"/>
              <a:t>Scaled enterprise sales from $2M to $40M at a prior company.</a:t>
            </a:r>
          </a:p>
          <a:p>
            <a:r>
              <a:rPr sz="1600"/>
              <a:t>38 employees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Defensibility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Two granted patents on dynamic margin optimisation (USPTO).</a:t>
            </a:r>
          </a:p>
          <a:p>
            <a:r>
              <a:rPr sz="1600"/>
              <a:t>Proprietary benchmark dataset across 340 distributors.</a:t>
            </a:r>
          </a:p>
          <a:p>
            <a:r>
              <a:rPr sz="1600"/>
              <a:t>Competitive landscape: legacy pricing suites with 9-month implementations.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Monthly burn rate: $310,000</a:t>
            </a:r>
          </a:p>
          <a:p>
            <a:r>
              <a:rPr sz="1600"/>
              <a:t>Cash balance: $5,600,000</a:t>
            </a:r>
          </a:p>
          <a:p>
            <a:r>
              <a:rPr sz="1600"/>
              <a:t>Runway: 18 months</a:t>
            </a:r>
          </a:p>
          <a:p>
            <a:r>
              <a:rPr sz="1600"/>
              <a:t>Financial model and three-year projections available in the data room.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The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Currently raising $9,000,000 Series A</a:t>
            </a:r>
          </a:p>
          <a:p>
            <a:r>
              <a:rPr sz="1600"/>
              <a:t>Pre-money valuation: $36,000,000</a:t>
            </a:r>
          </a:p>
          <a:p>
            <a:r>
              <a:rPr sz="1600"/>
              <a:t>Security type: Series A Preferred Stock</a:t>
            </a:r>
          </a:p>
          <a:p>
            <a:r>
              <a:rPr sz="1600"/>
              <a:t>$5,400,000 committed - 60% of the round is committed</a:t>
            </a:r>
          </a:p>
          <a:p>
            <a:r>
              <a:rPr sz="1600"/>
              <a:t>Lead investor: Calder Ridge Ventures</a:t>
            </a:r>
          </a:p>
          <a:p>
            <a:r>
              <a:rPr sz="1600"/>
              <a:t>Existing investors: Foundry Park Capital, Tessellate Ventures</a:t>
            </a:r>
          </a:p>
          <a:p>
            <a:r>
              <a:rPr sz="1600"/>
              <a:t>Prior funding raised: $4,200,000</a:t>
            </a:r>
          </a:p>
          <a:p>
            <a:r>
              <a:rPr sz="1600"/>
              <a:t>Minimum investment: $250,000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Use of proceeds: 45% engineering, 35% go-to-market, 12% customer success, 8% G&amp;A.</a:t>
            </a:r>
          </a:p>
          <a:p>
            <a:r>
              <a:rPr sz="1600"/>
              <a:t>Milestones: $6M ARR and 90 customers within 18 months.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